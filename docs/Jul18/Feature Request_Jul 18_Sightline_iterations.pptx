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4660"/>
  </p:normalViewPr>
  <p:slideViewPr>
    <p:cSldViewPr snapToGrid="0">
      <p:cViewPr varScale="1">
        <p:scale>
          <a:sx n="81" d="100"/>
          <a:sy n="81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AD9CF-579F-46E6-B48A-C154B61FC974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5192-B4A6-4AF4-BF54-D9D0937460F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3158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is2.vercel.app/how-it-work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5192-B4A6-4AF4-BF54-D9D0937460FC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698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3999-04B6-D7A6-522A-11F6655F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ED230-12AC-13E6-5EB3-B603734A4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11E44-22A6-65C0-9B33-60D2A8F8F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D6A0-D9AB-FDD5-730A-A33F71C2F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5192-B4A6-4AF4-BF54-D9D0937460FC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6489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61EC-1838-9EE4-04EA-E4D6B798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82412-CBE2-F729-3BF1-56707BE5A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00ED9-32B2-3F2D-238B-1FE5CD9D4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07ED8-437D-C0A9-438F-183662676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5192-B4A6-4AF4-BF54-D9D0937460FC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3703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04BD-2149-4D84-4B26-E0E7653A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8A189-5979-332B-A878-9FDCB5E5A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C4820-0F8B-9E91-757E-9F69AC503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1ABB7-324A-25AF-44AA-C036BD4DA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5192-B4A6-4AF4-BF54-D9D0937460FC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0601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9069-01CC-12FE-8756-A749A8A4A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01D03-2CCF-E600-4176-6A15B8C93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A690A-C95C-0CCF-6E2C-75054B74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26F28-C1A5-19B2-61EB-2F92A343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575192-B4A6-4AF4-BF54-D9D0937460FC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5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D5EF-0B49-71E2-7326-30A73624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7F647-D417-61EF-0D76-2DDEA6FE9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9E451-3371-C6D7-103E-B6BA53BCC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How is this calculated?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E012E-E453-1520-0F6E-D13F12A02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5192-B4A6-4AF4-BF54-D9D0937460FC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308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A96C-93CD-CBBA-515D-02C82FD67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5CF0B-2AF4-1B12-1F21-337AE7B4E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BDA1-F8C4-558F-0CAB-D8E5522D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6CC98-AEA6-8382-EB6D-F233CF92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F2DB7-BFB1-3D2C-57B1-FF0EC51E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917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60C7-4B64-B0D1-0454-92A97ADB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A758D-1E32-331C-351B-0CCFE7E67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7D363-B81C-8095-346D-7D6B9FE3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5CE8A-9837-5194-CEFA-383ED148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29FC0-4EA6-4B5C-234C-4EA0E1983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864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0EA2-BA06-9A69-45FB-D699D6C1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2D5F2-B9C0-C4AB-33D5-8004B0F57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7555-A9EF-C589-7602-E02A60C1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58A31-C18D-F5A0-4F57-3C21D500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BD0F-BF85-1B8B-9937-FEE79125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543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9039-B3B7-CFB9-3D62-633607C3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057A8-474A-CF19-CFC4-46A69B273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BEB36-9916-2250-F8AA-9A86AF8AD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3AD3F-7281-BD3A-DB08-EFE8C4E3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4B21C-A437-C8A6-300D-E2E87D60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77160-CE8B-8748-A6B5-E42EFD88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929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F584-FB47-2116-980F-6C46D502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DE25C-10D8-91E5-693B-9560D7C80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D0D5-43C2-7F22-A034-474D3B784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EF260-1119-F414-75D2-94346FBD5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15610-4CBA-94AD-7CBA-A19385B95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CE0A7-896E-661A-C681-76B24C40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A4E38-515C-910B-AD9E-F9FCCE10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1F617-3118-7659-A4A8-33C96A33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007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039D-7BBA-58C7-C75E-DB832797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029CD4-1213-8954-3886-24AB1EEA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6B3BD-51FA-6489-25D0-1E3F2478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13CE3-37ED-BC5B-0ABF-9FFE2E45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893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20BF8-B2F0-A8FC-8355-B3721F0D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22970-1B66-9D18-307E-C9A54546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2E8F1-4621-6C94-72B3-027B39E7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808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3C80-D5EF-B301-0279-7CB8426E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CC8FA-2F71-4A01-729A-50726B887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D820B-90C7-FDAC-EC5D-28FBFE6DD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C2C1E-C216-A90E-D295-3368CCA8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FD55D-8B51-4373-174A-C135114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6AD63-C51E-4AEC-20C4-F1B15613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123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5C8D-8071-0680-10B0-E4BA911B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03E77-8B54-40BD-C8F8-9F286B793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0480B-22FA-9C67-9DA6-05A9EBA21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3DCE-FDA2-FB84-26B9-54A176F4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0E17A-C69E-EB23-5A94-43D74101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C8CD5-A0DB-A302-1AA1-E7B6B68A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072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5114-570D-58C7-6E8F-201D27C8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72A1B-AA40-AA41-A877-A25F1FBDD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A5B06-C461-413A-C4FC-14DDC0E0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29CE6-FF94-3C1B-1476-333FBD9F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2E5A5-FDEE-22DE-3A93-A7AF99FA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38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9B1B1-A82F-359B-27E3-923878718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04E9C-BA41-7259-0B36-ABD424AE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2BEBB-E45A-56CE-D326-867C2C06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0E331-6C24-CC9D-6EDE-D47E112D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60E9-C715-5E6D-3923-F6407C45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854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BB1C1-2F25-0B09-B8CF-A2D774A5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BA98-E7D9-2F4B-77C8-2AF4EED12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02EA6-977C-7B09-6BF0-4D110E307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C4716-6B33-4781-8297-53DFE4F75ABC}" type="datetimeFigureOut">
              <a:rPr lang="en-SG" smtClean="0"/>
              <a:t>18/7/2026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9E90-7A1F-08D5-8162-5E23B0D82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EC239-0B90-3F53-83A2-5857D3460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CFA8-DD02-497A-8D3B-BF21F7168D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76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0C5F-00ED-B348-BDEE-4E3B2C82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SG" sz="2400" b="1" dirty="0"/>
              <a:t>Feature Request: Sources Metrics Definitions &amp; Naming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24329-6965-9C9A-4381-4F16A724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6" y="922618"/>
            <a:ext cx="10228584" cy="1884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5203F0-6110-F76C-BD5B-045A49E1C957}"/>
              </a:ext>
            </a:extLst>
          </p:cNvPr>
          <p:cNvSpPr txBox="1"/>
          <p:nvPr/>
        </p:nvSpPr>
        <p:spPr>
          <a:xfrm>
            <a:off x="223636" y="2806831"/>
            <a:ext cx="106899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=========================================================</a:t>
            </a:r>
          </a:p>
          <a:p>
            <a:r>
              <a:rPr lang="en-US" sz="1200" dirty="0"/>
              <a:t>Sources Metrics Definitions &amp; Naming</a:t>
            </a:r>
          </a:p>
          <a:p>
            <a:r>
              <a:rPr lang="en-US" sz="1200" dirty="0"/>
              <a:t>=========================================================</a:t>
            </a:r>
          </a:p>
          <a:p>
            <a:endParaRPr lang="en-US" sz="1200" dirty="0"/>
          </a:p>
          <a:p>
            <a:r>
              <a:rPr lang="en-US" sz="1200" dirty="0"/>
              <a:t>Refer to:</a:t>
            </a:r>
          </a:p>
          <a:p>
            <a:endParaRPr lang="en-US" sz="1200" dirty="0"/>
          </a:p>
          <a:p>
            <a:r>
              <a:rPr lang="en-US" sz="1200" dirty="0"/>
              <a:t>- Figure 7 – Sources Dashboard Metrics</a:t>
            </a:r>
          </a:p>
          <a:p>
            <a:endParaRPr lang="en-US" sz="1200" dirty="0"/>
          </a:p>
          <a:p>
            <a:r>
              <a:rPr lang="en-US" sz="1200" dirty="0"/>
              <a:t>Review the Sources dashboard metrics to ensure the metric names are clear, accurate, and not misleading.</a:t>
            </a:r>
          </a:p>
          <a:p>
            <a:endParaRPr lang="en-US" sz="1200" dirty="0"/>
          </a:p>
          <a:p>
            <a:r>
              <a:rPr lang="en-US" sz="1200" dirty="0"/>
              <a:t>Requirements:</a:t>
            </a:r>
          </a:p>
          <a:p>
            <a:endParaRPr lang="en-US" sz="1200" dirty="0"/>
          </a:p>
          <a:p>
            <a:r>
              <a:rPr lang="en-US" sz="1200" dirty="0"/>
              <a:t>- Rename metrics where needed to better reflect what is being measured.</a:t>
            </a:r>
          </a:p>
          <a:p>
            <a:r>
              <a:rPr lang="en-US" sz="1200" dirty="0"/>
              <a:t>- Add a plain-language tooltip for every metric.</a:t>
            </a:r>
          </a:p>
          <a:p>
            <a:r>
              <a:rPr lang="en-US" sz="1200" dirty="0"/>
              <a:t>- Show tooltips on hover (desktop) and tap (mobile).</a:t>
            </a:r>
          </a:p>
          <a:p>
            <a:r>
              <a:rPr lang="en-US" sz="1200" dirty="0"/>
              <a:t>- Explain what the metric measures and why it matters.</a:t>
            </a:r>
          </a:p>
          <a:p>
            <a:r>
              <a:rPr lang="en-US" sz="1200" dirty="0"/>
              <a:t>- Keep explanations concise and non-technical.</a:t>
            </a:r>
          </a:p>
          <a:p>
            <a:r>
              <a:rPr lang="en-US" sz="1200" dirty="0"/>
              <a:t>- Reuse existing tooltip/popover components.</a:t>
            </a:r>
          </a:p>
          <a:p>
            <a:r>
              <a:rPr lang="en-US" sz="1200" dirty="0"/>
              <a:t>- Apply this consistently across the Sources page.</a:t>
            </a:r>
          </a:p>
          <a:p>
            <a:endParaRPr lang="en-US" sz="1200" dirty="0"/>
          </a:p>
          <a:p>
            <a:r>
              <a:rPr lang="en-US" sz="1200" dirty="0"/>
              <a:t>The goal is to reduce ambiguity and help users immediately understand the metrics.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59D70-7073-810D-4595-963B9CCAC3C3}"/>
              </a:ext>
            </a:extLst>
          </p:cNvPr>
          <p:cNvSpPr txBox="1"/>
          <p:nvPr/>
        </p:nvSpPr>
        <p:spPr>
          <a:xfrm>
            <a:off x="320511" y="527902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Figure 7 – Sources Dashboard Metrics</a:t>
            </a:r>
          </a:p>
        </p:txBody>
      </p:sp>
    </p:spTree>
    <p:extLst>
      <p:ext uri="{BB962C8B-B14F-4D97-AF65-F5344CB8AC3E}">
        <p14:creationId xmlns:p14="http://schemas.microsoft.com/office/powerpoint/2010/main" val="346978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9388-A6EC-4F41-ED27-0220DC23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F2E5-7463-C7BE-D2D7-6F107AD8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How It Works Link Behavior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A7444-CEC9-4CE7-5B96-7B9E958E4EF9}"/>
              </a:ext>
            </a:extLst>
          </p:cNvPr>
          <p:cNvSpPr txBox="1"/>
          <p:nvPr/>
        </p:nvSpPr>
        <p:spPr>
          <a:xfrm>
            <a:off x="223636" y="2954073"/>
            <a:ext cx="106899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=========================================================</a:t>
            </a:r>
          </a:p>
          <a:p>
            <a:r>
              <a:rPr lang="en-US" sz="1200" dirty="0"/>
              <a:t>How It Works Link Behavior</a:t>
            </a:r>
          </a:p>
          <a:p>
            <a:r>
              <a:rPr lang="en-US" sz="1200" dirty="0"/>
              <a:t>=========================================================</a:t>
            </a:r>
          </a:p>
          <a:p>
            <a:endParaRPr lang="en-US" sz="1200" dirty="0"/>
          </a:p>
          <a:p>
            <a:r>
              <a:rPr lang="en-US" sz="1200" dirty="0"/>
              <a:t>Refer to:</a:t>
            </a:r>
          </a:p>
          <a:p>
            <a:endParaRPr lang="en-US" sz="1200" dirty="0"/>
          </a:p>
          <a:p>
            <a:r>
              <a:rPr lang="en-US" sz="1200" dirty="0"/>
              <a:t>- Figure 8 – "How is this calculated?" User Flow</a:t>
            </a:r>
          </a:p>
          <a:p>
            <a:endParaRPr lang="en-US" sz="1200" dirty="0"/>
          </a:p>
          <a:p>
            <a:r>
              <a:rPr lang="en-US" sz="1200" dirty="0"/>
              <a:t>Update the "How is this calculated?" link so it opens the public "How It Works" page in a new browser tab instead of navigating away from the dashboard.</a:t>
            </a:r>
          </a:p>
          <a:p>
            <a:endParaRPr lang="en-US" sz="1200" dirty="0"/>
          </a:p>
          <a:p>
            <a:r>
              <a:rPr lang="en-US" sz="1200" dirty="0"/>
              <a:t>Requirements:</a:t>
            </a:r>
          </a:p>
          <a:p>
            <a:endParaRPr lang="en-US" sz="1200" dirty="0"/>
          </a:p>
          <a:p>
            <a:r>
              <a:rPr lang="en-US" sz="1200" dirty="0"/>
              <a:t>- Open in a new tab on desktop.</a:t>
            </a:r>
          </a:p>
          <a:p>
            <a:r>
              <a:rPr lang="en-US" sz="1200" dirty="0"/>
              <a:t>- Preserve the user's current dashboard session.</a:t>
            </a:r>
          </a:p>
          <a:p>
            <a:r>
              <a:rPr lang="en-US" sz="1200" dirty="0"/>
              <a:t>- Keep the behavior consistent across all "How is this calculated?" links in the application.</a:t>
            </a:r>
          </a:p>
          <a:p>
            <a:r>
              <a:rPr lang="en-US" sz="1200" dirty="0"/>
              <a:t>- Ensure the experience works well on both desktop and mobile.</a:t>
            </a:r>
          </a:p>
          <a:p>
            <a:endParaRPr lang="en-US" sz="1200" dirty="0"/>
          </a:p>
          <a:p>
            <a:r>
              <a:rPr lang="en-US" sz="1200" dirty="0"/>
              <a:t>The goal is to let users view the methodology without interrupting their current workflow.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F1F71-8F89-929A-03F8-3AA9FCC899F2}"/>
              </a:ext>
            </a:extLst>
          </p:cNvPr>
          <p:cNvSpPr txBox="1"/>
          <p:nvPr/>
        </p:nvSpPr>
        <p:spPr>
          <a:xfrm>
            <a:off x="320511" y="527902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Figure 8 – </a:t>
            </a:r>
            <a:r>
              <a:rPr lang="en-US" dirty="0"/>
              <a:t>"How is this calculated?" User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052E5-69C9-CAE3-1E06-1404F271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36" y="897234"/>
            <a:ext cx="9160757" cy="193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32FF-0FB9-B4B3-2945-87391722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F80D-1713-5B21-98BC-DC9BD18E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</a:t>
            </a:r>
            <a:r>
              <a:rPr lang="en-US" sz="2400" dirty="0"/>
              <a:t>How It Works Accessibility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5E8E7-55D3-D5FE-8E77-A82250E66BC5}"/>
              </a:ext>
            </a:extLst>
          </p:cNvPr>
          <p:cNvSpPr txBox="1"/>
          <p:nvPr/>
        </p:nvSpPr>
        <p:spPr>
          <a:xfrm>
            <a:off x="223636" y="701067"/>
            <a:ext cx="106899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=========================================================</a:t>
            </a:r>
          </a:p>
          <a:p>
            <a:r>
              <a:rPr lang="en-US" sz="1200" dirty="0"/>
              <a:t>How It Works Accessibility</a:t>
            </a:r>
          </a:p>
          <a:p>
            <a:r>
              <a:rPr lang="en-US" sz="1200" dirty="0"/>
              <a:t>=========================================================</a:t>
            </a:r>
          </a:p>
          <a:p>
            <a:endParaRPr lang="en-US" sz="1200" dirty="0"/>
          </a:p>
          <a:p>
            <a:r>
              <a:rPr lang="en-US" sz="1200" dirty="0"/>
              <a:t>The "How It Works" page should be publicly accessible.</a:t>
            </a:r>
          </a:p>
          <a:p>
            <a:endParaRPr lang="en-US" sz="1200" dirty="0"/>
          </a:p>
          <a:p>
            <a:r>
              <a:rPr lang="en-US" sz="1200" dirty="0"/>
              <a:t>Users must be able to view it without creating an account or logging in.</a:t>
            </a:r>
          </a:p>
          <a:p>
            <a:endParaRPr lang="en-US" sz="1200" dirty="0"/>
          </a:p>
          <a:p>
            <a:r>
              <a:rPr lang="en-US" sz="1200" dirty="0"/>
              <a:t>Add it to the public navigation and keep the experience consistent before and after login.</a:t>
            </a:r>
          </a:p>
          <a:p>
            <a:endParaRPr lang="en-US" sz="1200" dirty="0"/>
          </a:p>
          <a:p>
            <a:r>
              <a:rPr lang="en-US" sz="1200" dirty="0"/>
              <a:t>Do not gate this content behind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247444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9346-9DD0-74AB-B9DA-C4B3A339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B0EC-9C9D-02B2-B989-78A6A17F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Cookie Consent Banner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7DBDA-CE3A-773B-F7D1-E70875F1BEE8}"/>
              </a:ext>
            </a:extLst>
          </p:cNvPr>
          <p:cNvSpPr txBox="1"/>
          <p:nvPr/>
        </p:nvSpPr>
        <p:spPr>
          <a:xfrm>
            <a:off x="320511" y="3547286"/>
            <a:ext cx="10689996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=========================================================</a:t>
            </a:r>
          </a:p>
          <a:p>
            <a:r>
              <a:rPr lang="en-US" sz="1050" dirty="0"/>
              <a:t>Cookie Consent Banner</a:t>
            </a:r>
          </a:p>
          <a:p>
            <a:r>
              <a:rPr lang="en-US" sz="1050" dirty="0"/>
              <a:t>=========================================================</a:t>
            </a:r>
          </a:p>
          <a:p>
            <a:endParaRPr lang="en-US" sz="1050" dirty="0"/>
          </a:p>
          <a:p>
            <a:r>
              <a:rPr lang="en-US" sz="1050" dirty="0"/>
              <a:t>Implement a lightweight cookie consent banner that appears on the user's first visit.</a:t>
            </a:r>
          </a:p>
          <a:p>
            <a:endParaRPr lang="en-US" sz="1050" dirty="0"/>
          </a:p>
          <a:p>
            <a:r>
              <a:rPr lang="en-US" sz="1050" dirty="0"/>
              <a:t>Requirements:</a:t>
            </a:r>
          </a:p>
          <a:p>
            <a:endParaRPr lang="en-US" sz="1050" dirty="0"/>
          </a:p>
          <a:p>
            <a:r>
              <a:rPr lang="en-US" sz="1050" dirty="0"/>
              <a:t>- Display a non-intrusive banner or card at the bottom of the page.</a:t>
            </a:r>
          </a:p>
          <a:p>
            <a:r>
              <a:rPr lang="en-US" sz="1050" dirty="0"/>
              <a:t>- Include a brief explanation of cookie usage consistent with the existing Privacy Policy and Terms.</a:t>
            </a:r>
          </a:p>
          <a:p>
            <a:r>
              <a:rPr lang="en-US" sz="1050" dirty="0"/>
              <a:t>- Provide two actions: "Decline optional" and "Got it" (or equivalent wording).</a:t>
            </a:r>
          </a:p>
          <a:p>
            <a:r>
              <a:rPr lang="en-US" sz="1050" dirty="0"/>
              <a:t>- "Got it" accepts all cookies.</a:t>
            </a:r>
          </a:p>
          <a:p>
            <a:r>
              <a:rPr lang="en-US" sz="1050" dirty="0"/>
              <a:t>- "Decline optional" rejects non-essential cookies only.</a:t>
            </a:r>
          </a:p>
          <a:p>
            <a:r>
              <a:rPr lang="en-US" sz="1050" dirty="0"/>
              <a:t>- Persist the user's choice so the banner does not reappear.</a:t>
            </a:r>
          </a:p>
          <a:p>
            <a:r>
              <a:rPr lang="en-US" sz="1050" dirty="0"/>
              <a:t>- Do not block page content or require interaction before the user can browse.</a:t>
            </a:r>
          </a:p>
          <a:p>
            <a:r>
              <a:rPr lang="en-US" sz="1050" dirty="0"/>
              <a:t>- Keep the design consistent with the existing design system.</a:t>
            </a:r>
          </a:p>
          <a:p>
            <a:r>
              <a:rPr lang="en-US" sz="1050" dirty="0"/>
              <a:t>- Reuse existing components where possible.</a:t>
            </a:r>
          </a:p>
          <a:p>
            <a:endParaRPr lang="en-US" sz="1050" dirty="0"/>
          </a:p>
          <a:p>
            <a:r>
              <a:rPr lang="en-US" sz="1050" dirty="0"/>
              <a:t>The banner should align with industry-standard cookie consent practices without requiring a full cookie preference center.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A8BF1-1549-3314-8670-427CB360EAA5}"/>
              </a:ext>
            </a:extLst>
          </p:cNvPr>
          <p:cNvSpPr txBox="1"/>
          <p:nvPr/>
        </p:nvSpPr>
        <p:spPr>
          <a:xfrm>
            <a:off x="320511" y="527902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 Figure 3 – Gracker.ai Cookie Consent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7846E-C778-73E3-F8C9-0BFFD654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64" t="50564"/>
          <a:stretch>
            <a:fillRect/>
          </a:stretch>
        </p:blipFill>
        <p:spPr>
          <a:xfrm>
            <a:off x="750005" y="921600"/>
            <a:ext cx="3492057" cy="2532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B0FBA2-DECF-112F-E364-754FEDAEC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104" y="897234"/>
            <a:ext cx="4320540" cy="2377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6E032-17BF-A0FA-C977-99D02E8857D5}"/>
              </a:ext>
            </a:extLst>
          </p:cNvPr>
          <p:cNvSpPr txBox="1"/>
          <p:nvPr/>
        </p:nvSpPr>
        <p:spPr>
          <a:xfrm>
            <a:off x="6242115" y="552268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 Figure 4 – Perplexity Cookie Consent Example</a:t>
            </a:r>
          </a:p>
        </p:txBody>
      </p:sp>
    </p:spTree>
    <p:extLst>
      <p:ext uri="{BB962C8B-B14F-4D97-AF65-F5344CB8AC3E}">
        <p14:creationId xmlns:p14="http://schemas.microsoft.com/office/powerpoint/2010/main" val="45327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065B-8ED2-7849-05EE-AEBABE0C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E832-73A0-1372-A550-64A3D97B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Industry Taxonomy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86AB9-4F6B-7708-6EB5-287FA7D6FEE3}"/>
              </a:ext>
            </a:extLst>
          </p:cNvPr>
          <p:cNvSpPr txBox="1"/>
          <p:nvPr/>
        </p:nvSpPr>
        <p:spPr>
          <a:xfrm>
            <a:off x="579748" y="3632171"/>
            <a:ext cx="4397504" cy="31624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=========================================================</a:t>
            </a:r>
          </a:p>
          <a:p>
            <a:r>
              <a:rPr lang="en-US" sz="1050" dirty="0"/>
              <a:t>Industry Taxonomy</a:t>
            </a:r>
          </a:p>
          <a:p>
            <a:r>
              <a:rPr lang="en-US" sz="1050" dirty="0"/>
              <a:t>=========================================================</a:t>
            </a:r>
          </a:p>
          <a:p>
            <a:r>
              <a:rPr lang="en-US" sz="1050" dirty="0"/>
              <a:t>Replace the current Industry dropdown with a simpler, MECE taxonomy.</a:t>
            </a:r>
          </a:p>
          <a:p>
            <a:endParaRPr lang="en-US" sz="1050" dirty="0"/>
          </a:p>
          <a:p>
            <a:r>
              <a:rPr lang="en-US" sz="1050" dirty="0"/>
              <a:t>Categories:</a:t>
            </a:r>
          </a:p>
          <a:p>
            <a:endParaRPr lang="en-US" sz="1050" dirty="0"/>
          </a:p>
          <a:p>
            <a:r>
              <a:rPr lang="en-US" sz="1050" dirty="0"/>
              <a:t>- Software &amp; SaaS</a:t>
            </a:r>
          </a:p>
          <a:p>
            <a:r>
              <a:rPr lang="en-US" sz="1050" dirty="0"/>
              <a:t>- Consumer Technology</a:t>
            </a:r>
          </a:p>
          <a:p>
            <a:r>
              <a:rPr lang="en-US" sz="1050" dirty="0"/>
              <a:t>- Professional Services</a:t>
            </a:r>
          </a:p>
          <a:p>
            <a:r>
              <a:rPr lang="en-US" sz="1050" dirty="0"/>
              <a:t>- E-Commerce &amp; Retail</a:t>
            </a:r>
          </a:p>
          <a:p>
            <a:r>
              <a:rPr lang="en-US" sz="1050" dirty="0"/>
              <a:t>- Financial Services</a:t>
            </a:r>
          </a:p>
          <a:p>
            <a:r>
              <a:rPr lang="en-US" sz="1050" dirty="0"/>
              <a:t>- Healthcare &amp; Life Sciences</a:t>
            </a:r>
          </a:p>
          <a:p>
            <a:r>
              <a:rPr lang="en-US" sz="1050" dirty="0"/>
              <a:t>- Education</a:t>
            </a:r>
          </a:p>
          <a:p>
            <a:r>
              <a:rPr lang="en-US" sz="1050" dirty="0"/>
              <a:t>- Government &amp; Non-Profit</a:t>
            </a:r>
          </a:p>
          <a:p>
            <a:r>
              <a:rPr lang="en-US" sz="1050" dirty="0"/>
              <a:t>- Other Industries</a:t>
            </a:r>
          </a:p>
          <a:p>
            <a:endParaRPr lang="en-US" sz="1050" dirty="0"/>
          </a:p>
          <a:p>
            <a:r>
              <a:rPr lang="en-US" sz="1050" dirty="0"/>
              <a:t>Add a short helper text beneath the Industry field that updates based on the selected category.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FEF7F-BDFF-CD64-C83B-549485EE6F03}"/>
              </a:ext>
            </a:extLst>
          </p:cNvPr>
          <p:cNvSpPr txBox="1"/>
          <p:nvPr/>
        </p:nvSpPr>
        <p:spPr>
          <a:xfrm>
            <a:off x="320511" y="527902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 Figure 5 – Industry Field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87CBB-91A2-4C80-7645-C4256F760E8C}"/>
              </a:ext>
            </a:extLst>
          </p:cNvPr>
          <p:cNvSpPr txBox="1"/>
          <p:nvPr/>
        </p:nvSpPr>
        <p:spPr>
          <a:xfrm>
            <a:off x="6242115" y="182936"/>
            <a:ext cx="451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 Figure 6 – Current Industry Dropdown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E77D9-A144-5801-8E6E-D73C2DD6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50" b="10762"/>
          <a:stretch>
            <a:fillRect/>
          </a:stretch>
        </p:blipFill>
        <p:spPr>
          <a:xfrm>
            <a:off x="320511" y="921600"/>
            <a:ext cx="4806740" cy="234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B4CE3-AD25-00DE-84B5-AF24F943B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085"/>
          <a:stretch>
            <a:fillRect/>
          </a:stretch>
        </p:blipFill>
        <p:spPr bwMode="auto">
          <a:xfrm>
            <a:off x="6302123" y="552268"/>
            <a:ext cx="3529831" cy="27781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EF788E-73CB-E0DF-F356-C8F020C0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251" y="3632171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538E56-CC9B-EDFB-85C3-52FE5C4B82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7" y="3632171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59B292-49A6-33C7-E0B0-6E7E9BA2309F}"/>
              </a:ext>
            </a:extLst>
          </p:cNvPr>
          <p:cNvSpPr txBox="1"/>
          <p:nvPr/>
        </p:nvSpPr>
        <p:spPr>
          <a:xfrm>
            <a:off x="5594021" y="3632171"/>
            <a:ext cx="6183199" cy="300082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Example helper text:</a:t>
            </a:r>
          </a:p>
          <a:p>
            <a:endParaRPr lang="en-US" sz="1050" dirty="0"/>
          </a:p>
          <a:p>
            <a:r>
              <a:rPr lang="en-US" sz="1050" dirty="0"/>
              <a:t>- Software &amp; SaaS — B2B software, cloud platforms, enterprise solutions.</a:t>
            </a:r>
          </a:p>
          <a:p>
            <a:r>
              <a:rPr lang="en-US" sz="1050" dirty="0"/>
              <a:t>- Consumer Technology — Mobile apps, consumer products, electronics.</a:t>
            </a:r>
          </a:p>
          <a:p>
            <a:r>
              <a:rPr lang="en-US" sz="1050" dirty="0"/>
              <a:t>- Professional Services — Agencies, consulting, legal, accounting.</a:t>
            </a:r>
          </a:p>
          <a:p>
            <a:r>
              <a:rPr lang="en-US" sz="1050" dirty="0"/>
              <a:t>- E-Commerce &amp; Retail — Online stores, marketplaces, retail brands.</a:t>
            </a:r>
          </a:p>
          <a:p>
            <a:r>
              <a:rPr lang="en-US" sz="1050" dirty="0"/>
              <a:t>- Financial Services — Banking, fintech, insurance, wealth management.</a:t>
            </a:r>
          </a:p>
          <a:p>
            <a:r>
              <a:rPr lang="en-US" sz="1050" dirty="0"/>
              <a:t>- Healthcare &amp; Life Sciences — Healthcare, pharma, biotech, </a:t>
            </a:r>
            <a:r>
              <a:rPr lang="en-US" sz="1050" dirty="0" err="1"/>
              <a:t>healthtech</a:t>
            </a:r>
            <a:r>
              <a:rPr lang="en-US" sz="1050" dirty="0"/>
              <a:t>.</a:t>
            </a:r>
          </a:p>
          <a:p>
            <a:r>
              <a:rPr lang="en-US" sz="1050" dirty="0"/>
              <a:t>- Education — EdTech, schools, universities, training.</a:t>
            </a:r>
          </a:p>
          <a:p>
            <a:r>
              <a:rPr lang="en-US" sz="1050" dirty="0"/>
              <a:t>- Government &amp; Non-Profit — Public sector, NGOs, charities.</a:t>
            </a:r>
          </a:p>
          <a:p>
            <a:r>
              <a:rPr lang="en-US" sz="1050" dirty="0"/>
              <a:t>- Other Industries — Manufacturing, real estate, travel, logistics, media, energy and other sectors.</a:t>
            </a:r>
          </a:p>
          <a:p>
            <a:endParaRPr lang="en-US" sz="1050" dirty="0"/>
          </a:p>
          <a:p>
            <a:r>
              <a:rPr lang="en-US" sz="1050" dirty="0"/>
              <a:t>Keep the helper text concise, responsive, and easy to read on both desktop and mobile.</a:t>
            </a:r>
          </a:p>
          <a:p>
            <a:endParaRPr lang="en-US" sz="1050" dirty="0"/>
          </a:p>
          <a:p>
            <a:r>
              <a:rPr lang="en-US" sz="1050" dirty="0"/>
              <a:t>Update the backend taxonomy, mappings, validation, and benchmark generation to use the same categories as the frontend.</a:t>
            </a:r>
          </a:p>
          <a:p>
            <a:endParaRPr lang="en-US" sz="1050" dirty="0"/>
          </a:p>
          <a:p>
            <a:r>
              <a:rPr lang="en-US" sz="1050" dirty="0"/>
              <a:t>The frontend and backend must remain fully aligned to ensure consistent benchmarking and avoid ambiguity.</a:t>
            </a:r>
          </a:p>
        </p:txBody>
      </p:sp>
    </p:spTree>
    <p:extLst>
      <p:ext uri="{BB962C8B-B14F-4D97-AF65-F5344CB8AC3E}">
        <p14:creationId xmlns:p14="http://schemas.microsoft.com/office/powerpoint/2010/main" val="217909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0DC36-946E-8CE0-F08B-4C321C37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30E5-69D3-0E39-7DA1-317C5B89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</a:t>
            </a:r>
            <a:r>
              <a:rPr lang="en-US" sz="2400" dirty="0"/>
              <a:t>Pricing Table UX Improvements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B943D-597C-F457-2769-D399586D99D3}"/>
              </a:ext>
            </a:extLst>
          </p:cNvPr>
          <p:cNvSpPr txBox="1"/>
          <p:nvPr/>
        </p:nvSpPr>
        <p:spPr>
          <a:xfrm>
            <a:off x="223636" y="701067"/>
            <a:ext cx="106899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=========================================================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Pricing Table UX Improvements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=========================================================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 the pricing table to make plan differences clearer and reduce confusion during the buying journey.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Requirements: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Move the explanation for "Team collaboration (seats)" directly beneath the feature name in smaller italic text.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Suggested copy: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"Members can run scans and generate content. Viewers have read-only access."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Surface the Pro plan value within the table instead of relying on notes below 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Clearly indicate that Pro includes everything in Starter along with higher limits and additional features, without duplicating the entire feature list.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Keep only billing-related notes below the pricing table, such 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 Cancel anytime — your plan remains active until the end of the current billing period.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- Annual billing (2 months free) coming soon.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Reuse the existing layout and components.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goal is to improve clarity, highlight the Pro plan value, and create a smoother buying experience without adding visual clutter.</a:t>
            </a:r>
          </a:p>
        </p:txBody>
      </p:sp>
    </p:spTree>
    <p:extLst>
      <p:ext uri="{BB962C8B-B14F-4D97-AF65-F5344CB8AC3E}">
        <p14:creationId xmlns:p14="http://schemas.microsoft.com/office/powerpoint/2010/main" val="338167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52DC-8017-335D-64E5-75226070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CE01-3A86-FA21-09E5-E8970E5B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" y="148310"/>
            <a:ext cx="10515600" cy="379592"/>
          </a:xfrm>
        </p:spPr>
        <p:txBody>
          <a:bodyPr>
            <a:noAutofit/>
          </a:bodyPr>
          <a:lstStyle/>
          <a:p>
            <a:r>
              <a:rPr lang="en-US" sz="2400" b="1" dirty="0"/>
              <a:t>Feature Request: </a:t>
            </a:r>
            <a:r>
              <a:rPr lang="en-US" sz="2400" dirty="0"/>
              <a:t>Hero Monitoring Section (Landing Page)</a:t>
            </a:r>
            <a:endParaRPr lang="en-S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80BCF-DEFB-2617-6447-1378ED3E067C}"/>
              </a:ext>
            </a:extLst>
          </p:cNvPr>
          <p:cNvSpPr txBox="1"/>
          <p:nvPr/>
        </p:nvSpPr>
        <p:spPr>
          <a:xfrm>
            <a:off x="320511" y="3224120"/>
            <a:ext cx="10689996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=========================================================</a:t>
            </a:r>
          </a:p>
          <a:p>
            <a:r>
              <a:rPr lang="en-US" sz="1050" dirty="0"/>
              <a:t>Hero Monitoring Section (Landing Page)</a:t>
            </a:r>
          </a:p>
          <a:p>
            <a:r>
              <a:rPr lang="en-US" sz="1050" dirty="0"/>
              <a:t>=========================================================</a:t>
            </a:r>
          </a:p>
          <a:p>
            <a:endParaRPr lang="en-US" sz="1050" dirty="0"/>
          </a:p>
          <a:p>
            <a:r>
              <a:rPr lang="en-US" sz="1050" dirty="0"/>
              <a:t>Refer to:</a:t>
            </a:r>
          </a:p>
          <a:p>
            <a:endParaRPr lang="en-US" sz="1050" dirty="0"/>
          </a:p>
          <a:p>
            <a:r>
              <a:rPr lang="en-US" sz="1050" dirty="0"/>
              <a:t>- Figure 1 – Current Hero Monitoring Section</a:t>
            </a:r>
          </a:p>
          <a:p>
            <a:r>
              <a:rPr lang="en-US" sz="1050" dirty="0"/>
              <a:t>- Figure 2 – Desired Hero Monitoring Experience</a:t>
            </a:r>
          </a:p>
          <a:p>
            <a:endParaRPr lang="en-US" sz="1050" dirty="0"/>
          </a:p>
          <a:p>
            <a:r>
              <a:rPr lang="en-US" sz="1050" dirty="0"/>
              <a:t>Update the hero monitoring section on the public landing page to better communicate that Sightline continuously monitors AI visibility.</a:t>
            </a:r>
          </a:p>
          <a:p>
            <a:endParaRPr lang="en-US" sz="1050" dirty="0"/>
          </a:p>
          <a:p>
            <a:r>
              <a:rPr lang="en-US" sz="1050" dirty="0"/>
              <a:t>Requirements:</a:t>
            </a:r>
          </a:p>
          <a:p>
            <a:endParaRPr lang="en-US" sz="1050" dirty="0"/>
          </a:p>
          <a:p>
            <a:r>
              <a:rPr lang="en-US" sz="1050" dirty="0"/>
              <a:t>- Refresh the visual presentation to feel more active and engaging, inspired by Figure 2.</a:t>
            </a:r>
          </a:p>
          <a:p>
            <a:r>
              <a:rPr lang="en-US" sz="1050" dirty="0"/>
              <a:t>- Emphasize ongoing monitoring and analysis without exposing implementation details.</a:t>
            </a:r>
          </a:p>
          <a:p>
            <a:r>
              <a:rPr lang="en-US" sz="1050" dirty="0"/>
              <a:t>- Display only high-level, non-sensitive information suitable for prospective users.</a:t>
            </a:r>
          </a:p>
          <a:p>
            <a:r>
              <a:rPr lang="en-US" sz="1050" dirty="0"/>
              <a:t>- Do not expose customer data, proprietary metrics, internal operations, or platform scale.</a:t>
            </a:r>
          </a:p>
          <a:p>
            <a:r>
              <a:rPr lang="en-US" sz="1050" dirty="0"/>
              <a:t>- Reuse existing components where possible and keep the implementation lightweight.</a:t>
            </a:r>
          </a:p>
          <a:p>
            <a:r>
              <a:rPr lang="en-US" sz="1050" dirty="0"/>
              <a:t>- Keep the design consistent with the existing design system.</a:t>
            </a:r>
          </a:p>
          <a:p>
            <a:endParaRPr lang="en-US" sz="1050" dirty="0"/>
          </a:p>
          <a:p>
            <a:r>
              <a:rPr lang="en-US" sz="1050" dirty="0"/>
              <a:t>The goal is to increase user confidence and communicate that Sightline continuously analyzes AI visibility while protecting proprietary information.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B2BC0-0AE8-970F-215B-BADB578C8A9C}"/>
              </a:ext>
            </a:extLst>
          </p:cNvPr>
          <p:cNvSpPr txBox="1"/>
          <p:nvPr/>
        </p:nvSpPr>
        <p:spPr>
          <a:xfrm>
            <a:off x="320511" y="527902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Figure 1 – Current Hero Monitoring Section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56D5D-FD11-8218-A04C-7108801674BD}"/>
              </a:ext>
            </a:extLst>
          </p:cNvPr>
          <p:cNvSpPr txBox="1"/>
          <p:nvPr/>
        </p:nvSpPr>
        <p:spPr>
          <a:xfrm>
            <a:off x="6242115" y="552268"/>
            <a:ext cx="714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Figure 2 – Desired Hero Monitoring Experience (competitor)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120C0-8DA9-43D7-B0CD-06F16B725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82" y="921600"/>
            <a:ext cx="4386580" cy="2359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BDA405-7A4A-5AC7-4D5A-C1E086F6B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160" b="84302"/>
          <a:stretch>
            <a:fillRect/>
          </a:stretch>
        </p:blipFill>
        <p:spPr>
          <a:xfrm>
            <a:off x="8733382" y="908980"/>
            <a:ext cx="1616716" cy="460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4037DF-63A8-EA6A-8A2E-C69CDF9A37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57" r="24069"/>
          <a:stretch>
            <a:fillRect/>
          </a:stretch>
        </p:blipFill>
        <p:spPr>
          <a:xfrm>
            <a:off x="7818448" y="1312501"/>
            <a:ext cx="3446584" cy="309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6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1183</Words>
  <Application>Microsoft Office PowerPoint</Application>
  <PresentationFormat>Widescreen</PresentationFormat>
  <Paragraphs>178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Feature Request: Sources Metrics Definitions &amp; Naming</vt:lpstr>
      <vt:lpstr>Feature Request: How It Works Link Behavior</vt:lpstr>
      <vt:lpstr>Feature Request: How It Works Accessibility</vt:lpstr>
      <vt:lpstr>Feature Request: Cookie Consent Banner</vt:lpstr>
      <vt:lpstr>Feature Request: Industry Taxonomy</vt:lpstr>
      <vt:lpstr>Feature Request: Pricing Table UX Improvements</vt:lpstr>
      <vt:lpstr>Feature Request: Hero Monitoring Section (Landing Page)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sbyun sg</dc:creator>
  <cp:lastModifiedBy>sbyun sg</cp:lastModifiedBy>
  <cp:revision>7</cp:revision>
  <dcterms:created xsi:type="dcterms:W3CDTF">2026-07-18T12:30:15Z</dcterms:created>
  <dcterms:modified xsi:type="dcterms:W3CDTF">2026-07-18T13:12:22Z</dcterms:modified>
</cp:coreProperties>
</file>